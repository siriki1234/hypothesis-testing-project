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61" r:id="rId5"/>
    <p:sldId id="260" r:id="rId6"/>
    <p:sldId id="262" r:id="rId7"/>
    <p:sldId id="263" r:id="rId8"/>
    <p:sldId id="265" r:id="rId9"/>
    <p:sldId id="264" r:id="rId10"/>
    <p:sldId id="266" r:id="rId11"/>
    <p:sldId id="268" r:id="rId12"/>
    <p:sldId id="269" r:id="rId13"/>
    <p:sldId id="270" r:id="rId14"/>
    <p:sldId id="271"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3/22/2026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19349" y="855617"/>
            <a:ext cx="10407331" cy="2262781"/>
          </a:xfrm>
        </p:spPr>
        <p:txBody>
          <a:bodyPr>
            <a:normAutofit/>
          </a:bodyPr>
          <a:lstStyle/>
          <a:p>
            <a:pPr algn="ctr"/>
            <a:r>
              <a:rPr lang="en-US" sz="6000" dirty="0">
                <a:solidFill>
                  <a:schemeClr val="accent3">
                    <a:lumMod val="75000"/>
                  </a:schemeClr>
                </a:solidFill>
                <a:latin typeface="Times New Roman" panose="02020603050405020304" pitchFamily="18" charset="0"/>
                <a:cs typeface="Times New Roman" panose="02020603050405020304" pitchFamily="18" charset="0"/>
              </a:rPr>
              <a:t>NYC Yellow Taxi Trip Analysis</a:t>
            </a:r>
            <a:endParaRPr lang="en-IN" sz="6000" dirty="0">
              <a:solidFill>
                <a:schemeClr val="accent3">
                  <a:lumMod val="75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2484710" y="3118398"/>
            <a:ext cx="8915399" cy="1126283"/>
          </a:xfrm>
        </p:spPr>
        <p:txBody>
          <a:bodyPr/>
          <a:lstStyle/>
          <a:p>
            <a:pPr algn="r"/>
            <a:r>
              <a:rPr lang="en-IN" dirty="0">
                <a:solidFill>
                  <a:srgbClr val="0070C0"/>
                </a:solidFill>
                <a:latin typeface="Times New Roman" panose="02020603050405020304" pitchFamily="18" charset="0"/>
                <a:cs typeface="Times New Roman" panose="02020603050405020304" pitchFamily="18" charset="0"/>
              </a:rPr>
              <a:t>A Hypothesis Testing Approach</a:t>
            </a:r>
            <a:endParaRPr lang="en-IN" b="1" dirty="0">
              <a:solidFill>
                <a:srgbClr val="0070C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741595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17623" y="775454"/>
            <a:ext cx="1997177" cy="769441"/>
          </a:xfrm>
          <a:prstGeom prst="rect">
            <a:avLst/>
          </a:prstGeom>
        </p:spPr>
        <p:txBody>
          <a:bodyPr wrap="square">
            <a:spAutoFit/>
          </a:bodyPr>
          <a:lstStyle/>
          <a:p>
            <a:r>
              <a:rPr lang="en-US" sz="4400" dirty="0">
                <a:solidFill>
                  <a:schemeClr val="accent2">
                    <a:lumMod val="75000"/>
                  </a:schemeClr>
                </a:solidFill>
                <a:latin typeface="Times New Roman" panose="02020603050405020304" pitchFamily="18" charset="0"/>
                <a:cs typeface="Times New Roman" panose="02020603050405020304" pitchFamily="18" charset="0"/>
              </a:rPr>
              <a:t>Agenda</a:t>
            </a:r>
            <a:endParaRPr lang="en-IN" sz="4400" dirty="0">
              <a:solidFill>
                <a:schemeClr val="accent2">
                  <a:lumMod val="75000"/>
                </a:schemeClr>
              </a:solidFill>
            </a:endParaRPr>
          </a:p>
        </p:txBody>
      </p:sp>
      <p:sp>
        <p:nvSpPr>
          <p:cNvPr id="3" name="Rectangle 2"/>
          <p:cNvSpPr/>
          <p:nvPr/>
        </p:nvSpPr>
        <p:spPr>
          <a:xfrm>
            <a:off x="2117623" y="2024743"/>
            <a:ext cx="5066948" cy="2308324"/>
          </a:xfrm>
          <a:prstGeom prst="rect">
            <a:avLst/>
          </a:prstGeom>
        </p:spPr>
        <p:txBody>
          <a:bodyPr wrap="square">
            <a:spAutoFit/>
          </a:bodyPr>
          <a:lstStyle/>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a:t>
            </a:r>
            <a:r>
              <a:rPr lang="en-US" dirty="0" smtClean="0">
                <a:latin typeface="Times New Roman" panose="02020603050405020304" pitchFamily="18" charset="0"/>
                <a:cs typeface="Times New Roman" panose="02020603050405020304" pitchFamily="18" charset="0"/>
              </a:rPr>
              <a:t>Statement</a:t>
            </a:r>
          </a:p>
          <a:p>
            <a:pPr marL="285750" indent="-285750">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Objective</a:t>
            </a: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Research Question</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Data Overview</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Methodology</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Analysis and Findings</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Hypothesis Testing</a:t>
            </a:r>
          </a:p>
          <a:p>
            <a:pPr marL="285750" indent="-28575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Recommendations</a:t>
            </a:r>
          </a:p>
        </p:txBody>
      </p:sp>
    </p:spTree>
    <p:extLst>
      <p:ext uri="{BB962C8B-B14F-4D97-AF65-F5344CB8AC3E}">
        <p14:creationId xmlns:p14="http://schemas.microsoft.com/office/powerpoint/2010/main" val="318231789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1750" y="532670"/>
            <a:ext cx="8911687" cy="773615"/>
          </a:xfrm>
        </p:spPr>
        <p:txBody>
          <a:bodyPr>
            <a:normAutofit/>
          </a:bodyPr>
          <a:lstStyle/>
          <a:p>
            <a:r>
              <a:rPr lang="en-US" sz="4400" dirty="0" smtClean="0"/>
              <a:t>Problem Statement</a:t>
            </a:r>
            <a:endParaRPr lang="en-IN" sz="4400" dirty="0"/>
          </a:p>
        </p:txBody>
      </p:sp>
      <p:sp>
        <p:nvSpPr>
          <p:cNvPr id="3" name="Content Placeholder 2"/>
          <p:cNvSpPr>
            <a:spLocks noGrp="1"/>
          </p:cNvSpPr>
          <p:nvPr>
            <p:ph idx="1"/>
          </p:nvPr>
        </p:nvSpPr>
        <p:spPr>
          <a:xfrm>
            <a:off x="1792378" y="1643743"/>
            <a:ext cx="5718765" cy="4006222"/>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 the fast-paced taxi booking sector, making the most of revenue is essential for long-term success and driver happiness.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Our </a:t>
            </a:r>
            <a:r>
              <a:rPr lang="en-US" dirty="0">
                <a:latin typeface="Times New Roman" panose="02020603050405020304" pitchFamily="18" charset="0"/>
                <a:cs typeface="Times New Roman" panose="02020603050405020304" pitchFamily="18" charset="0"/>
              </a:rPr>
              <a:t>goal is to use data-driven insights to </a:t>
            </a:r>
            <a:r>
              <a:rPr lang="en-US" dirty="0" smtClean="0">
                <a:latin typeface="Times New Roman" panose="02020603050405020304" pitchFamily="18" charset="0"/>
                <a:cs typeface="Times New Roman" panose="02020603050405020304" pitchFamily="18" charset="0"/>
              </a:rPr>
              <a:t>maximize </a:t>
            </a:r>
            <a:r>
              <a:rPr lang="en-US" dirty="0">
                <a:latin typeface="Times New Roman" panose="02020603050405020304" pitchFamily="18" charset="0"/>
                <a:cs typeface="Times New Roman" panose="02020603050405020304" pitchFamily="18" charset="0"/>
              </a:rPr>
              <a:t>revenue streams for taxi drivers in order to meet this need.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Our research </a:t>
            </a:r>
            <a:r>
              <a:rPr lang="en-US" dirty="0">
                <a:latin typeface="Times New Roman" panose="02020603050405020304" pitchFamily="18" charset="0"/>
                <a:cs typeface="Times New Roman" panose="02020603050405020304" pitchFamily="18" charset="0"/>
              </a:rPr>
              <a:t>aims to determine whether payment methods have an impact on fare pricing by focusing on the relationship between payment type and fare amount.</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1113" y="1486989"/>
            <a:ext cx="4114800" cy="3086100"/>
          </a:xfrm>
          <a:prstGeom prst="rect">
            <a:avLst/>
          </a:prstGeom>
        </p:spPr>
      </p:pic>
    </p:spTree>
    <p:extLst>
      <p:ext uri="{BB962C8B-B14F-4D97-AF65-F5344CB8AC3E}">
        <p14:creationId xmlns:p14="http://schemas.microsoft.com/office/powerpoint/2010/main" val="23799564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4927" y="624110"/>
            <a:ext cx="9649686" cy="1280890"/>
          </a:xfrm>
        </p:spPr>
        <p:txBody>
          <a:bodyPr/>
          <a:lstStyle/>
          <a:p>
            <a:r>
              <a:rPr lang="en-IN" dirty="0"/>
              <a:t> </a:t>
            </a:r>
            <a:r>
              <a:rPr lang="en-IN" sz="4400" dirty="0">
                <a:latin typeface="Times New Roman" panose="02020603050405020304" pitchFamily="18" charset="0"/>
                <a:cs typeface="Times New Roman" panose="02020603050405020304" pitchFamily="18" charset="0"/>
              </a:rPr>
              <a:t>Objective</a:t>
            </a:r>
          </a:p>
        </p:txBody>
      </p:sp>
      <p:sp>
        <p:nvSpPr>
          <p:cNvPr id="3" name="Content Placeholder 2"/>
          <p:cNvSpPr>
            <a:spLocks noGrp="1"/>
          </p:cNvSpPr>
          <p:nvPr>
            <p:ph idx="1"/>
          </p:nvPr>
        </p:nvSpPr>
        <p:spPr>
          <a:xfrm>
            <a:off x="1854927" y="1562458"/>
            <a:ext cx="7876900" cy="4173862"/>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To </a:t>
            </a:r>
            <a:r>
              <a:rPr lang="en-US" dirty="0">
                <a:latin typeface="Times New Roman" panose="02020603050405020304" pitchFamily="18" charset="0"/>
                <a:cs typeface="Times New Roman" panose="02020603050405020304" pitchFamily="18" charset="0"/>
              </a:rPr>
              <a:t>perform an A/B test on fare and payment method</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analyze the relationship between total fare and payment type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use Python for hypothesis testing and data analysis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extract insights that help increase driver revenue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compare fares between card and cash payments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To check if there is a significant difference in fares.</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60006" y="2605470"/>
            <a:ext cx="4331769" cy="3940747"/>
          </a:xfrm>
          <a:prstGeom prst="rect">
            <a:avLst/>
          </a:prstGeom>
        </p:spPr>
      </p:pic>
    </p:spTree>
    <p:extLst>
      <p:ext uri="{BB962C8B-B14F-4D97-AF65-F5344CB8AC3E}">
        <p14:creationId xmlns:p14="http://schemas.microsoft.com/office/powerpoint/2010/main" val="38583760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6102" y="1042121"/>
            <a:ext cx="9623561" cy="1280890"/>
          </a:xfrm>
        </p:spPr>
        <p:txBody>
          <a:bodyPr>
            <a:normAutofit/>
          </a:bodyPr>
          <a:lstStyle/>
          <a:p>
            <a:r>
              <a:rPr lang="en-US" sz="4400" dirty="0" smtClean="0">
                <a:latin typeface="Times New Roman" panose="02020603050405020304" pitchFamily="18" charset="0"/>
                <a:cs typeface="Times New Roman" panose="02020603050405020304" pitchFamily="18" charset="0"/>
              </a:rPr>
              <a:t>Research Question</a:t>
            </a:r>
            <a:endParaRPr lang="en-IN"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76102" y="2198707"/>
            <a:ext cx="5525588" cy="3777622"/>
          </a:xfrm>
        </p:spPr>
        <p:txBody>
          <a:bodyPr/>
          <a:lstStyle/>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Is there a relationship between total fare amount and payment type ?</a:t>
            </a:r>
            <a:r>
              <a:rPr lang="en-US" b="1" dirty="0" smtClean="0">
                <a:latin typeface="Times New Roman" panose="02020603050405020304" pitchFamily="18" charset="0"/>
                <a:cs typeface="Times New Roman" panose="02020603050405020304" pitchFamily="18" charset="0"/>
              </a:rPr>
              <a:t> </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can </a:t>
            </a:r>
            <a:r>
              <a:rPr lang="en-US" dirty="0">
                <a:latin typeface="Times New Roman" panose="02020603050405020304" pitchFamily="18" charset="0"/>
                <a:cs typeface="Times New Roman" panose="02020603050405020304" pitchFamily="18" charset="0"/>
              </a:rPr>
              <a:t>we nudge customers towards payment methods that generate higher revenue for drivers, without negatively impacting customer </a:t>
            </a:r>
            <a:r>
              <a:rPr lang="en-US" dirty="0" smtClean="0">
                <a:latin typeface="Times New Roman" panose="02020603050405020304" pitchFamily="18" charset="0"/>
                <a:cs typeface="Times New Roman" panose="02020603050405020304" pitchFamily="18" charset="0"/>
              </a:rPr>
              <a:t>experience.</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01689" y="767851"/>
            <a:ext cx="4810965" cy="2731498"/>
          </a:xfrm>
          <a:prstGeom prst="rect">
            <a:avLst/>
          </a:prstGeom>
        </p:spPr>
      </p:pic>
    </p:spTree>
    <p:extLst>
      <p:ext uri="{BB962C8B-B14F-4D97-AF65-F5344CB8AC3E}">
        <p14:creationId xmlns:p14="http://schemas.microsoft.com/office/powerpoint/2010/main" val="41938363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487" y="624110"/>
            <a:ext cx="9741126" cy="1280890"/>
          </a:xfrm>
        </p:spPr>
        <p:txBody>
          <a:bodyPr>
            <a:normAutofit/>
          </a:bodyPr>
          <a:lstStyle/>
          <a:p>
            <a:r>
              <a:rPr lang="en-IN" sz="4400" dirty="0">
                <a:latin typeface="Times New Roman" panose="02020603050405020304" pitchFamily="18" charset="0"/>
                <a:cs typeface="Times New Roman" panose="02020603050405020304" pitchFamily="18" charset="0"/>
              </a:rPr>
              <a:t>Data Overview</a:t>
            </a:r>
          </a:p>
        </p:txBody>
      </p:sp>
      <p:sp>
        <p:nvSpPr>
          <p:cNvPr id="3" name="Content Placeholder 2"/>
          <p:cNvSpPr>
            <a:spLocks noGrp="1"/>
          </p:cNvSpPr>
          <p:nvPr>
            <p:ph idx="1"/>
          </p:nvPr>
        </p:nvSpPr>
        <p:spPr>
          <a:xfrm>
            <a:off x="1881051" y="1351113"/>
            <a:ext cx="9623561" cy="1223554"/>
          </a:xfrm>
        </p:spPr>
        <p:txBody>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For this analysis, we utilized the comprehensive dataset of NYC Taxi Trip records, used data cleaning and feature engineering procedures to concentrate solely on the relevant columns essential for our investigation.</a:t>
            </a:r>
            <a:endParaRPr lang="en-IN" dirty="0">
              <a:latin typeface="Times New Roman" panose="02020603050405020304" pitchFamily="18" charset="0"/>
              <a:cs typeface="Times New Roman" panose="02020603050405020304" pitchFamily="18" charset="0"/>
            </a:endParaRPr>
          </a:p>
        </p:txBody>
      </p:sp>
      <p:sp>
        <p:nvSpPr>
          <p:cNvPr id="4" name="Rectangle 3"/>
          <p:cNvSpPr/>
          <p:nvPr/>
        </p:nvSpPr>
        <p:spPr>
          <a:xfrm>
            <a:off x="1802675" y="2624740"/>
            <a:ext cx="8895597" cy="707886"/>
          </a:xfrm>
          <a:prstGeom prst="rect">
            <a:avLst/>
          </a:prstGeom>
        </p:spPr>
        <p:txBody>
          <a:bodyPr wrap="square">
            <a:spAutoFit/>
          </a:bodyPr>
          <a:lstStyle/>
          <a:p>
            <a:r>
              <a:rPr lang="en-US" sz="4000" dirty="0">
                <a:solidFill>
                  <a:srgbClr val="0070C0"/>
                </a:solidFill>
                <a:latin typeface="Times New Roman" panose="02020603050405020304" pitchFamily="18" charset="0"/>
                <a:cs typeface="Times New Roman" panose="02020603050405020304" pitchFamily="18" charset="0"/>
              </a:rPr>
              <a:t>Relevant columns used for this </a:t>
            </a:r>
            <a:r>
              <a:rPr lang="en-US" sz="4000" dirty="0" smtClean="0">
                <a:solidFill>
                  <a:srgbClr val="0070C0"/>
                </a:solidFill>
                <a:latin typeface="Times New Roman" panose="02020603050405020304" pitchFamily="18" charset="0"/>
                <a:cs typeface="Times New Roman" panose="02020603050405020304" pitchFamily="18" charset="0"/>
              </a:rPr>
              <a:t>research</a:t>
            </a:r>
            <a:r>
              <a:rPr lang="en-US" sz="4000" dirty="0">
                <a:solidFill>
                  <a:srgbClr val="0070C0"/>
                </a:solidFill>
                <a:latin typeface="Times New Roman" panose="02020603050405020304" pitchFamily="18" charset="0"/>
                <a:cs typeface="Times New Roman" panose="02020603050405020304" pitchFamily="18" charset="0"/>
              </a:rPr>
              <a:t>:</a:t>
            </a:r>
            <a:endParaRPr lang="en-IN" sz="4000" dirty="0">
              <a:solidFill>
                <a:srgbClr val="0070C0"/>
              </a:solidFill>
              <a:latin typeface="Times New Roman" panose="02020603050405020304" pitchFamily="18" charset="0"/>
              <a:cs typeface="Times New Roman" panose="02020603050405020304" pitchFamily="18" charset="0"/>
            </a:endParaRPr>
          </a:p>
        </p:txBody>
      </p:sp>
      <p:sp>
        <p:nvSpPr>
          <p:cNvPr id="5" name="Rectangle 4"/>
          <p:cNvSpPr/>
          <p:nvPr/>
        </p:nvSpPr>
        <p:spPr>
          <a:xfrm>
            <a:off x="1972491" y="3395059"/>
            <a:ext cx="5225143" cy="2031325"/>
          </a:xfrm>
          <a:prstGeom prst="rect">
            <a:avLst/>
          </a:prstGeom>
        </p:spPr>
        <p:txBody>
          <a:bodyPr wrap="square">
            <a:spAutoFit/>
          </a:bodyPr>
          <a:lstStyle/>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passenger_count (1 to 5</a:t>
            </a:r>
            <a:r>
              <a:rPr lang="en-US" dirty="0" smtClean="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payment_type (card or cash</a:t>
            </a:r>
            <a:r>
              <a:rPr lang="en-US" dirty="0" smtClean="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fare_amount </a:t>
            </a:r>
          </a:p>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trip_distance (miles</a:t>
            </a:r>
            <a:r>
              <a:rPr lang="en-US" dirty="0" smtClean="0">
                <a:latin typeface="Times New Roman" panose="02020603050405020304" pitchFamily="18" charset="0"/>
                <a:cs typeface="Times New Roman" panose="02020603050405020304" pitchFamily="18" charset="0"/>
              </a:rPr>
              <a:t>)</a:t>
            </a:r>
          </a:p>
          <a:p>
            <a:pPr marL="342900" indent="-342900">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duration (minutes)</a:t>
            </a:r>
            <a:endParaRPr lang="en-I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endParaRPr lang="en-US" dirty="0"/>
          </a:p>
        </p:txBody>
      </p:sp>
      <p:pic>
        <p:nvPicPr>
          <p:cNvPr id="6" name="Picture 5"/>
          <p:cNvPicPr>
            <a:picLocks noChangeAspect="1"/>
          </p:cNvPicPr>
          <p:nvPr/>
        </p:nvPicPr>
        <p:blipFill>
          <a:blip r:embed="rId2"/>
          <a:stretch>
            <a:fillRect/>
          </a:stretch>
        </p:blipFill>
        <p:spPr>
          <a:xfrm>
            <a:off x="6328849" y="3505591"/>
            <a:ext cx="5532225" cy="2359632"/>
          </a:xfrm>
          <a:prstGeom prst="rect">
            <a:avLst/>
          </a:prstGeom>
        </p:spPr>
      </p:pic>
    </p:spTree>
    <p:extLst>
      <p:ext uri="{BB962C8B-B14F-4D97-AF65-F5344CB8AC3E}">
        <p14:creationId xmlns:p14="http://schemas.microsoft.com/office/powerpoint/2010/main" val="20111587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3840" y="545733"/>
            <a:ext cx="8911687" cy="1280890"/>
          </a:xfrm>
        </p:spPr>
        <p:txBody>
          <a:bodyPr/>
          <a:lstStyle/>
          <a:p>
            <a:r>
              <a:rPr lang="en-IN" sz="4400" dirty="0">
                <a:latin typeface="Times New Roman" panose="02020603050405020304" pitchFamily="18" charset="0"/>
                <a:cs typeface="Times New Roman" panose="02020603050405020304" pitchFamily="18" charset="0"/>
              </a:rPr>
              <a:t>Methodology</a:t>
            </a:r>
          </a:p>
        </p:txBody>
      </p:sp>
      <p:sp>
        <p:nvSpPr>
          <p:cNvPr id="3" name="Content Placeholder 2"/>
          <p:cNvSpPr>
            <a:spLocks noGrp="1"/>
          </p:cNvSpPr>
          <p:nvPr>
            <p:ph idx="1"/>
          </p:nvPr>
        </p:nvSpPr>
        <p:spPr>
          <a:xfrm>
            <a:off x="1312766" y="1502227"/>
            <a:ext cx="8275371" cy="4872447"/>
          </a:xfrm>
        </p:spPr>
        <p:txBody>
          <a:bodyPr>
            <a:normAutofit/>
          </a:bodyPr>
          <a:lstStyle/>
          <a:p>
            <a:pPr>
              <a:buFont typeface="Wingdings" panose="05000000000000000000" pitchFamily="2" charset="2"/>
              <a:buChar char="v"/>
            </a:pPr>
            <a:r>
              <a:rPr lang="en-IN" b="1" dirty="0" smtClean="0">
                <a:latin typeface="Times New Roman" panose="02020603050405020304" pitchFamily="18" charset="0"/>
                <a:cs typeface="Times New Roman" panose="02020603050405020304" pitchFamily="18" charset="0"/>
              </a:rPr>
              <a:t>Descriptive Analysis</a:t>
            </a:r>
            <a:r>
              <a:rPr lang="en-IN" b="1" dirty="0" smtClean="0">
                <a:latin typeface="Times New Roman" panose="02020603050405020304" pitchFamily="18" charset="0"/>
                <a:cs typeface="Times New Roman" panose="02020603050405020304" pitchFamily="18" charset="0"/>
              </a:rPr>
              <a:t>:</a:t>
            </a:r>
            <a:endParaRPr lang="en-US" dirty="0" smtClean="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Performed </a:t>
            </a:r>
            <a:r>
              <a:rPr lang="en-US" dirty="0">
                <a:latin typeface="Times New Roman" panose="02020603050405020304" pitchFamily="18" charset="0"/>
                <a:cs typeface="Times New Roman" panose="02020603050405020304" pitchFamily="18" charset="0"/>
              </a:rPr>
              <a:t>statistical analysis to summarize key aspects of the </a:t>
            </a:r>
            <a:r>
              <a:rPr lang="en-US" dirty="0" smtClean="0">
                <a:latin typeface="Times New Roman" panose="02020603050405020304" pitchFamily="18" charset="0"/>
                <a:cs typeface="Times New Roman" panose="02020603050405020304" pitchFamily="18" charset="0"/>
              </a:rPr>
              <a:t>data</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focusing on fare amounts and payment types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Hypothesis </a:t>
            </a:r>
            <a:r>
              <a:rPr lang="en-IN" b="1" dirty="0" smtClean="0">
                <a:latin typeface="Times New Roman" panose="02020603050405020304" pitchFamily="18" charset="0"/>
                <a:cs typeface="Times New Roman" panose="02020603050405020304" pitchFamily="18" charset="0"/>
              </a:rPr>
              <a:t>Testing:</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Conducted a T-test to evaluate the relationship between payment type and fare </a:t>
            </a:r>
            <a:r>
              <a:rPr lang="en-US" dirty="0" smtClean="0">
                <a:latin typeface="Times New Roman" panose="02020603050405020304" pitchFamily="18" charset="0"/>
                <a:cs typeface="Times New Roman" panose="02020603050405020304" pitchFamily="18" charset="0"/>
              </a:rPr>
              <a:t>amount.</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testing the hypothesis that different payment methods influence fare amounts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IN" b="1" dirty="0">
                <a:latin typeface="Times New Roman" panose="02020603050405020304" pitchFamily="18" charset="0"/>
                <a:cs typeface="Times New Roman" panose="02020603050405020304" pitchFamily="18" charset="0"/>
              </a:rPr>
              <a:t>Regression </a:t>
            </a:r>
            <a:r>
              <a:rPr lang="en-IN" b="1" dirty="0" smtClean="0">
                <a:latin typeface="Times New Roman" panose="02020603050405020304" pitchFamily="18" charset="0"/>
                <a:cs typeface="Times New Roman" panose="02020603050405020304" pitchFamily="18" charset="0"/>
              </a:rPr>
              <a:t>Analysis: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Implemented linear regression to explore the relationship between trip duration (calculated from pickup and dropoff times) and fare amount.</a:t>
            </a:r>
            <a:endParaRPr lang="en-IN" b="1"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8137" y="405695"/>
            <a:ext cx="2193064" cy="2193064"/>
          </a:xfrm>
          <a:prstGeom prst="rect">
            <a:avLst/>
          </a:prstGeom>
        </p:spPr>
      </p:pic>
    </p:spTree>
    <p:extLst>
      <p:ext uri="{BB962C8B-B14F-4D97-AF65-F5344CB8AC3E}">
        <p14:creationId xmlns:p14="http://schemas.microsoft.com/office/powerpoint/2010/main" val="1512316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4650" y="390539"/>
            <a:ext cx="8911687" cy="1280890"/>
          </a:xfrm>
        </p:spPr>
        <p:txBody>
          <a:bodyPr>
            <a:normAutofit/>
          </a:bodyPr>
          <a:lstStyle/>
          <a:p>
            <a:r>
              <a:rPr lang="en-US" sz="4400" dirty="0" smtClean="0">
                <a:latin typeface="Times New Roman" panose="02020603050405020304" pitchFamily="18" charset="0"/>
                <a:cs typeface="Times New Roman" panose="02020603050405020304" pitchFamily="18" charset="0"/>
              </a:rPr>
              <a:t>Findings</a:t>
            </a:r>
            <a:endParaRPr lang="en-IN"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29828" y="1234460"/>
            <a:ext cx="6918693" cy="2050868"/>
          </a:xfrm>
        </p:spPr>
        <p:txBody>
          <a:bodyPr>
            <a:normAutofit/>
          </a:bodyPr>
          <a:lstStyle/>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Average fare: </a:t>
            </a:r>
            <a:r>
              <a:rPr lang="en-US" b="1" dirty="0">
                <a:latin typeface="Times New Roman" panose="02020603050405020304" pitchFamily="18" charset="0"/>
                <a:cs typeface="Times New Roman" panose="02020603050405020304" pitchFamily="18" charset="0"/>
              </a:rPr>
              <a:t>Card (13.7) &gt; Cash (12.25</a:t>
            </a:r>
            <a:r>
              <a:rPr lang="en-US" b="1"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Average </a:t>
            </a:r>
            <a:r>
              <a:rPr lang="en-US" dirty="0">
                <a:latin typeface="Times New Roman" panose="02020603050405020304" pitchFamily="18" charset="0"/>
                <a:cs typeface="Times New Roman" panose="02020603050405020304" pitchFamily="18" charset="0"/>
              </a:rPr>
              <a:t>trip distance: </a:t>
            </a:r>
            <a:r>
              <a:rPr lang="en-US" b="1" dirty="0">
                <a:latin typeface="Times New Roman" panose="02020603050405020304" pitchFamily="18" charset="0"/>
                <a:cs typeface="Times New Roman" panose="02020603050405020304" pitchFamily="18" charset="0"/>
              </a:rPr>
              <a:t>Card (3.23) &gt; Cash (2.8</a:t>
            </a:r>
            <a:r>
              <a:rPr lang="en-US" b="1"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Variability in fares is slightly higher for </a:t>
            </a:r>
            <a:r>
              <a:rPr lang="en-US" b="1" dirty="0">
                <a:latin typeface="Times New Roman" panose="02020603050405020304" pitchFamily="18" charset="0"/>
                <a:cs typeface="Times New Roman" panose="02020603050405020304" pitchFamily="18" charset="0"/>
              </a:rPr>
              <a:t>card payments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Customers prefer cards for high-value</a:t>
            </a:r>
            <a:r>
              <a:rPr lang="en-US" b="1" dirty="0">
                <a:latin typeface="Times New Roman" panose="02020603050405020304" pitchFamily="18" charset="0"/>
                <a:cs typeface="Times New Roman" panose="02020603050405020304" pitchFamily="18" charset="0"/>
              </a:rPr>
              <a:t> transactions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Payment method has a </a:t>
            </a:r>
            <a:r>
              <a:rPr lang="en-US" b="1" dirty="0">
                <a:latin typeface="Times New Roman" panose="02020603050405020304" pitchFamily="18" charset="0"/>
                <a:cs typeface="Times New Roman" panose="02020603050405020304" pitchFamily="18" charset="0"/>
              </a:rPr>
              <a:t>measurable impact on revenue patterns</a:t>
            </a:r>
            <a:r>
              <a:rPr lang="en-US"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
        <p:nvSpPr>
          <p:cNvPr id="8" name="Rectangle 7"/>
          <p:cNvSpPr/>
          <p:nvPr/>
        </p:nvSpPr>
        <p:spPr>
          <a:xfrm>
            <a:off x="1729828" y="3158235"/>
            <a:ext cx="3996665" cy="769441"/>
          </a:xfrm>
          <a:prstGeom prst="rect">
            <a:avLst/>
          </a:prstGeom>
        </p:spPr>
        <p:txBody>
          <a:bodyPr wrap="square">
            <a:spAutoFit/>
          </a:bodyPr>
          <a:lstStyle/>
          <a:p>
            <a:pPr>
              <a:spcBef>
                <a:spcPct val="0"/>
              </a:spcBef>
            </a:pPr>
            <a:r>
              <a:rPr lang="en-US" sz="4400" dirty="0">
                <a:solidFill>
                  <a:schemeClr val="accent2">
                    <a:lumMod val="75000"/>
                  </a:schemeClr>
                </a:solidFill>
                <a:latin typeface="Times New Roman" panose="02020603050405020304" pitchFamily="18" charset="0"/>
                <a:ea typeface="+mj-ea"/>
                <a:cs typeface="Times New Roman" panose="02020603050405020304" pitchFamily="18" charset="0"/>
              </a:rPr>
              <a:t>Insights</a:t>
            </a:r>
            <a:endParaRPr lang="en-IN" sz="4400" dirty="0">
              <a:solidFill>
                <a:schemeClr val="accent2">
                  <a:lumMod val="75000"/>
                </a:schemeClr>
              </a:solidFill>
              <a:latin typeface="Times New Roman" panose="02020603050405020304" pitchFamily="18" charset="0"/>
              <a:ea typeface="+mj-ea"/>
              <a:cs typeface="Times New Roman" panose="02020603050405020304" pitchFamily="18" charset="0"/>
            </a:endParaRPr>
          </a:p>
        </p:txBody>
      </p:sp>
      <p:sp>
        <p:nvSpPr>
          <p:cNvPr id="9" name="Rectangle 8"/>
          <p:cNvSpPr/>
          <p:nvPr/>
        </p:nvSpPr>
        <p:spPr>
          <a:xfrm>
            <a:off x="1700937" y="3989143"/>
            <a:ext cx="7717383" cy="1990288"/>
          </a:xfrm>
          <a:prstGeom prst="rect">
            <a:avLst/>
          </a:prstGeom>
        </p:spPr>
        <p:txBody>
          <a:bodyPr wrap="square">
            <a:spAutoFit/>
          </a:bodyPr>
          <a:lstStyle/>
          <a:p>
            <a:pPr marL="285750" indent="-285750">
              <a:spcBef>
                <a:spcPts val="1000"/>
              </a:spcBef>
              <a:buClr>
                <a:schemeClr val="accent1"/>
              </a:buClr>
              <a:buFont typeface="Wingdings" panose="05000000000000000000" pitchFamily="2" charset="2"/>
              <a:buChar char="v"/>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Card payments show slightly </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higher average fare </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than cash.</a:t>
            </a:r>
          </a:p>
          <a:p>
            <a:pPr marL="285750" indent="-285750">
              <a:spcBef>
                <a:spcPts val="1000"/>
              </a:spcBef>
              <a:buClr>
                <a:schemeClr val="accent1"/>
              </a:buClr>
              <a:buFont typeface="Wingdings" panose="05000000000000000000" pitchFamily="2" charset="2"/>
              <a:buChar char="v"/>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Customers using cards tend to travel </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longer distances</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285750" indent="-285750">
              <a:spcBef>
                <a:spcPts val="1000"/>
              </a:spcBef>
              <a:buClr>
                <a:schemeClr val="accent1"/>
              </a:buClr>
              <a:buFont typeface="Wingdings" panose="05000000000000000000" pitchFamily="2" charset="2"/>
              <a:buChar char="v"/>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Higher fares are more commonly paid using </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cards</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285750" indent="-285750">
              <a:spcBef>
                <a:spcPts val="1000"/>
              </a:spcBef>
              <a:buClr>
                <a:schemeClr val="accent1"/>
              </a:buClr>
              <a:buFont typeface="Wingdings" panose="05000000000000000000" pitchFamily="2" charset="2"/>
              <a:buChar char="v"/>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Cash payments are more frequent for </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shorter trips and lower fares</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a:t>
            </a:r>
          </a:p>
          <a:p>
            <a:pPr marL="285750" indent="-285750">
              <a:spcBef>
                <a:spcPts val="1000"/>
              </a:spcBef>
              <a:buClr>
                <a:schemeClr val="accent1"/>
              </a:buClr>
              <a:buFont typeface="Wingdings" panose="05000000000000000000" pitchFamily="2" charset="2"/>
              <a:buChar char="v"/>
            </a:pPr>
            <a:r>
              <a:rPr lang="en-US" dirty="0">
                <a:solidFill>
                  <a:schemeClr val="tx1">
                    <a:lumMod val="75000"/>
                    <a:lumOff val="25000"/>
                  </a:schemeClr>
                </a:solidFill>
                <a:latin typeface="Times New Roman" panose="02020603050405020304" pitchFamily="18" charset="0"/>
                <a:cs typeface="Times New Roman" panose="02020603050405020304" pitchFamily="18" charset="0"/>
              </a:rPr>
              <a:t>Fare and </a:t>
            </a: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trip distance</a:t>
            </a:r>
            <a:r>
              <a:rPr lang="en-US" dirty="0">
                <a:solidFill>
                  <a:schemeClr val="tx1">
                    <a:lumMod val="75000"/>
                    <a:lumOff val="25000"/>
                  </a:schemeClr>
                </a:solidFill>
                <a:latin typeface="Times New Roman" panose="02020603050405020304" pitchFamily="18" charset="0"/>
                <a:cs typeface="Times New Roman" panose="02020603050405020304" pitchFamily="18" charset="0"/>
              </a:rPr>
              <a:t> are positively related for both payment types.</a:t>
            </a:r>
            <a:endParaRPr lang="en-IN"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graphicFrame>
        <p:nvGraphicFramePr>
          <p:cNvPr id="10" name="Content Placeholder 6"/>
          <p:cNvGraphicFramePr>
            <a:graphicFrameLocks/>
          </p:cNvGraphicFramePr>
          <p:nvPr>
            <p:extLst>
              <p:ext uri="{D42A27DB-BD31-4B8C-83A1-F6EECF244321}">
                <p14:modId xmlns:p14="http://schemas.microsoft.com/office/powerpoint/2010/main" val="3868965445"/>
              </p:ext>
            </p:extLst>
          </p:nvPr>
        </p:nvGraphicFramePr>
        <p:xfrm>
          <a:off x="8046719" y="195417"/>
          <a:ext cx="3984172" cy="2359097"/>
        </p:xfrm>
        <a:graphic>
          <a:graphicData uri="http://schemas.openxmlformats.org/drawingml/2006/table">
            <a:tbl>
              <a:tblPr/>
              <a:tblGrid>
                <a:gridCol w="864985"/>
                <a:gridCol w="1113995"/>
                <a:gridCol w="629080"/>
                <a:gridCol w="1376112"/>
              </a:tblGrid>
              <a:tr h="699557">
                <a:tc>
                  <a:txBody>
                    <a:bodyPr/>
                    <a:lstStyle/>
                    <a:p>
                      <a:pPr algn="ctr" fontAlgn="ctr"/>
                      <a:r>
                        <a:rPr lang="en-IN" sz="1200" b="1" i="0" u="none" strike="noStrike" dirty="0">
                          <a:solidFill>
                            <a:srgbClr val="FFFFFF"/>
                          </a:solidFill>
                          <a:effectLst/>
                          <a:latin typeface="Calibri" panose="020F0502020204030204" pitchFamily="34" charset="0"/>
                        </a:rPr>
                        <a:t>Column1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7171"/>
                    </a:solidFill>
                  </a:tcPr>
                </a:tc>
                <a:tc>
                  <a:txBody>
                    <a:bodyPr/>
                    <a:lstStyle/>
                    <a:p>
                      <a:pPr algn="ctr" fontAlgn="ctr"/>
                      <a:r>
                        <a:rPr lang="en-IN" sz="1200" b="1" i="0" u="none" strike="noStrike" dirty="0">
                          <a:solidFill>
                            <a:srgbClr val="FFFFFF"/>
                          </a:solidFill>
                          <a:effectLst/>
                          <a:latin typeface="Calibri" panose="020F0502020204030204" pitchFamily="34" charset="0"/>
                        </a:rPr>
                        <a:t>Payment Type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7171"/>
                    </a:solidFill>
                  </a:tcPr>
                </a:tc>
                <a:tc>
                  <a:txBody>
                    <a:bodyPr/>
                    <a:lstStyle/>
                    <a:p>
                      <a:pPr algn="ctr" fontAlgn="ctr"/>
                      <a:r>
                        <a:rPr lang="en-IN" sz="1200" b="1" i="0" u="none" strike="noStrike">
                          <a:solidFill>
                            <a:srgbClr val="FFFFFF"/>
                          </a:solidFill>
                          <a:effectLst/>
                          <a:latin typeface="Calibri" panose="020F0502020204030204" pitchFamily="34" charset="0"/>
                        </a:rPr>
                        <a:t>Mean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7171"/>
                    </a:solidFill>
                  </a:tcPr>
                </a:tc>
                <a:tc>
                  <a:txBody>
                    <a:bodyPr/>
                    <a:lstStyle/>
                    <a:p>
                      <a:pPr algn="ctr" fontAlgn="ctr"/>
                      <a:r>
                        <a:rPr lang="en-IN" sz="1200" b="1" i="0" u="none" strike="noStrike">
                          <a:solidFill>
                            <a:srgbClr val="FFFFFF"/>
                          </a:solidFill>
                          <a:effectLst/>
                          <a:latin typeface="Calibri" panose="020F0502020204030204" pitchFamily="34" charset="0"/>
                        </a:rPr>
                        <a:t>Standard Deviation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57171"/>
                    </a:solidFill>
                  </a:tcPr>
                </a:tc>
              </a:tr>
              <a:tr h="425004">
                <a:tc>
                  <a:txBody>
                    <a:bodyPr/>
                    <a:lstStyle/>
                    <a:p>
                      <a:pPr algn="ctr" fontAlgn="ctr"/>
                      <a:r>
                        <a:rPr lang="en-IN" sz="1200" b="0" i="0" u="none" strike="noStrike">
                          <a:solidFill>
                            <a:srgbClr val="000000"/>
                          </a:solidFill>
                          <a:effectLst/>
                          <a:latin typeface="Calibri" panose="020F0502020204030204" pitchFamily="34" charset="0"/>
                        </a:rPr>
                        <a:t>Fare Amount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ctr" fontAlgn="ctr"/>
                      <a:r>
                        <a:rPr lang="en-IN" sz="1100" b="0" i="0" u="none" strike="noStrike">
                          <a:solidFill>
                            <a:srgbClr val="000000"/>
                          </a:solidFill>
                          <a:effectLst/>
                          <a:latin typeface="Calibri" panose="020F0502020204030204" pitchFamily="34" charset="0"/>
                        </a:rPr>
                        <a:t>Card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13.7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r>
              <a:tr h="404766">
                <a:tc>
                  <a:txBody>
                    <a:bodyPr/>
                    <a:lstStyle/>
                    <a:p>
                      <a:pPr algn="ctr"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Cash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12.25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r>
              <a:tr h="425004">
                <a:tc>
                  <a:txBody>
                    <a:bodyPr/>
                    <a:lstStyle/>
                    <a:p>
                      <a:pPr algn="ctr" fontAlgn="ctr"/>
                      <a:r>
                        <a:rPr lang="en-IN" sz="1200" b="0" i="0" u="none" strike="noStrike">
                          <a:solidFill>
                            <a:srgbClr val="000000"/>
                          </a:solidFill>
                          <a:effectLst/>
                          <a:latin typeface="Calibri" panose="020F0502020204030204" pitchFamily="34" charset="0"/>
                        </a:rPr>
                        <a:t>Trip Distance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EAAAA"/>
                    </a:solidFill>
                  </a:tcPr>
                </a:tc>
                <a:tc>
                  <a:txBody>
                    <a:bodyPr/>
                    <a:lstStyle/>
                    <a:p>
                      <a:pPr algn="ctr" fontAlgn="ctr"/>
                      <a:r>
                        <a:rPr lang="en-IN" sz="1100" b="0" i="0" u="none" strike="noStrike">
                          <a:solidFill>
                            <a:srgbClr val="000000"/>
                          </a:solidFill>
                          <a:effectLst/>
                          <a:latin typeface="Calibri" panose="020F0502020204030204" pitchFamily="34" charset="0"/>
                        </a:rPr>
                        <a:t>Card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3.23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2.32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r>
              <a:tr h="404766">
                <a:tc>
                  <a:txBody>
                    <a:bodyPr/>
                    <a:lstStyle/>
                    <a:p>
                      <a:pPr algn="ctr" fontAlgn="b"/>
                      <a:r>
                        <a:rPr lang="en-IN" sz="1100" b="0" i="0" u="none" strike="noStrike">
                          <a:solidFill>
                            <a:srgbClr val="000000"/>
                          </a:solidFill>
                          <a:effectLst/>
                          <a:latin typeface="Calibri" panose="020F0502020204030204" pitchFamily="34" charset="0"/>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Cash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a:solidFill>
                            <a:srgbClr val="000000"/>
                          </a:solidFill>
                          <a:effectLst/>
                          <a:latin typeface="Calibri" panose="020F0502020204030204" pitchFamily="34" charset="0"/>
                        </a:rPr>
                        <a:t>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c>
                  <a:txBody>
                    <a:bodyPr/>
                    <a:lstStyle/>
                    <a:p>
                      <a:pPr algn="ctr" fontAlgn="ctr"/>
                      <a:r>
                        <a:rPr lang="en-IN" sz="1100" b="0" i="0" u="none" strike="noStrike" dirty="0">
                          <a:solidFill>
                            <a:srgbClr val="000000"/>
                          </a:solidFill>
                          <a:effectLst/>
                          <a:latin typeface="Calibri" panose="020F0502020204030204" pitchFamily="34" charset="0"/>
                        </a:rPr>
                        <a:t>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CECE"/>
                    </a:solidFill>
                  </a:tcPr>
                </a:tc>
              </a:tr>
            </a:tbl>
          </a:graphicData>
        </a:graphic>
      </p:graphicFrame>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9667" y="3286310"/>
            <a:ext cx="3053340" cy="3053340"/>
          </a:xfrm>
          <a:prstGeom prst="rect">
            <a:avLst/>
          </a:prstGeom>
        </p:spPr>
      </p:pic>
    </p:spTree>
    <p:extLst>
      <p:ext uri="{BB962C8B-B14F-4D97-AF65-F5344CB8AC3E}">
        <p14:creationId xmlns:p14="http://schemas.microsoft.com/office/powerpoint/2010/main" val="32059461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ontent Placeholder 17"/>
          <p:cNvSpPr>
            <a:spLocks noGrp="1"/>
          </p:cNvSpPr>
          <p:nvPr>
            <p:ph idx="1"/>
          </p:nvPr>
        </p:nvSpPr>
        <p:spPr>
          <a:xfrm>
            <a:off x="2589212" y="5133702"/>
            <a:ext cx="8527279" cy="777519"/>
          </a:xfrm>
        </p:spPr>
        <p:txBody>
          <a:bodyPr/>
          <a:lstStyle/>
          <a:p>
            <a:endParaRPr lang="en-IN" dirty="0"/>
          </a:p>
        </p:txBody>
      </p:sp>
      <p:pic>
        <p:nvPicPr>
          <p:cNvPr id="19" name="Picture 18"/>
          <p:cNvPicPr>
            <a:picLocks noChangeAspect="1"/>
          </p:cNvPicPr>
          <p:nvPr/>
        </p:nvPicPr>
        <p:blipFill>
          <a:blip r:embed="rId2"/>
          <a:stretch>
            <a:fillRect/>
          </a:stretch>
        </p:blipFill>
        <p:spPr>
          <a:xfrm>
            <a:off x="2050949" y="1957794"/>
            <a:ext cx="9603803" cy="3953427"/>
          </a:xfrm>
          <a:prstGeom prst="rect">
            <a:avLst/>
          </a:prstGeom>
        </p:spPr>
      </p:pic>
      <p:sp>
        <p:nvSpPr>
          <p:cNvPr id="20" name="Rectangle 19"/>
          <p:cNvSpPr/>
          <p:nvPr/>
        </p:nvSpPr>
        <p:spPr>
          <a:xfrm>
            <a:off x="2589212" y="1145293"/>
            <a:ext cx="3226350" cy="769441"/>
          </a:xfrm>
          <a:prstGeom prst="rect">
            <a:avLst/>
          </a:prstGeom>
          <a:noFill/>
        </p:spPr>
        <p:txBody>
          <a:bodyPr wrap="square" lIns="91440" tIns="45720" rIns="91440" bIns="45720">
            <a:spAutoFit/>
          </a:bodyPr>
          <a:lstStyle/>
          <a:p>
            <a:pPr algn="ctr"/>
            <a:r>
              <a:rPr lang="en-US" sz="4400" dirty="0">
                <a:solidFill>
                  <a:schemeClr val="accent2">
                    <a:lumMod val="75000"/>
                  </a:schemeClr>
                </a:solidFill>
                <a:latin typeface="Times New Roman" panose="02020603050405020304" pitchFamily="18" charset="0"/>
                <a:ea typeface="+mj-ea"/>
                <a:cs typeface="Times New Roman" panose="02020603050405020304" pitchFamily="18" charset="0"/>
              </a:rPr>
              <a:t>Fare Amount</a:t>
            </a:r>
          </a:p>
        </p:txBody>
      </p:sp>
      <p:sp>
        <p:nvSpPr>
          <p:cNvPr id="22" name="Rectangle 21"/>
          <p:cNvSpPr/>
          <p:nvPr/>
        </p:nvSpPr>
        <p:spPr>
          <a:xfrm>
            <a:off x="7428409" y="1145294"/>
            <a:ext cx="3250634" cy="769441"/>
          </a:xfrm>
          <a:prstGeom prst="rect">
            <a:avLst/>
          </a:prstGeom>
          <a:noFill/>
        </p:spPr>
        <p:txBody>
          <a:bodyPr wrap="none" lIns="91440" tIns="45720" rIns="91440" bIns="45720">
            <a:spAutoFit/>
          </a:bodyPr>
          <a:lstStyle/>
          <a:p>
            <a:pPr algn="ctr"/>
            <a:r>
              <a:rPr lang="en-US" sz="4400" dirty="0">
                <a:solidFill>
                  <a:schemeClr val="accent2">
                    <a:lumMod val="75000"/>
                  </a:schemeClr>
                </a:solidFill>
                <a:latin typeface="Times New Roman" panose="02020603050405020304" pitchFamily="18" charset="0"/>
                <a:ea typeface="+mj-ea"/>
                <a:cs typeface="Times New Roman" panose="02020603050405020304" pitchFamily="18" charset="0"/>
              </a:rPr>
              <a:t>Trip Distance</a:t>
            </a:r>
          </a:p>
        </p:txBody>
      </p:sp>
    </p:spTree>
    <p:extLst>
      <p:ext uri="{BB962C8B-B14F-4D97-AF65-F5344CB8AC3E}">
        <p14:creationId xmlns:p14="http://schemas.microsoft.com/office/powerpoint/2010/main" val="31204705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2034" y="480419"/>
            <a:ext cx="8911687" cy="1280890"/>
          </a:xfrm>
        </p:spPr>
        <p:txBody>
          <a:bodyPr>
            <a:normAutofit/>
          </a:bodyPr>
          <a:lstStyle/>
          <a:p>
            <a:r>
              <a:rPr lang="en-US" sz="4400" dirty="0" smtClean="0">
                <a:latin typeface="Times New Roman" panose="02020603050405020304" pitchFamily="18" charset="0"/>
                <a:cs typeface="Times New Roman" panose="02020603050405020304" pitchFamily="18" charset="0"/>
              </a:rPr>
              <a:t>Preference of Payment Types</a:t>
            </a:r>
            <a:endParaRPr lang="en-IN"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92034" y="1761309"/>
            <a:ext cx="6162902" cy="3777622"/>
          </a:xfrm>
        </p:spPr>
        <p:txBody>
          <a:bodyPr/>
          <a:lstStyle/>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Card Payments are higher than Cash Payments.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Card Payments for </a:t>
            </a:r>
            <a:r>
              <a:rPr lang="en-US" b="1" dirty="0" smtClean="0">
                <a:latin typeface="Times New Roman" panose="02020603050405020304" pitchFamily="18" charset="0"/>
                <a:cs typeface="Times New Roman" panose="02020603050405020304" pitchFamily="18" charset="0"/>
              </a:rPr>
              <a:t>67.5%</a:t>
            </a:r>
            <a:r>
              <a:rPr lang="en-US" dirty="0" smtClean="0">
                <a:latin typeface="Times New Roman" panose="02020603050405020304" pitchFamily="18" charset="0"/>
                <a:cs typeface="Times New Roman" panose="02020603050405020304" pitchFamily="18" charset="0"/>
              </a:rPr>
              <a:t> of transactions.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Cash Payments for </a:t>
            </a:r>
            <a:r>
              <a:rPr lang="en-US" b="1" dirty="0" smtClean="0">
                <a:latin typeface="Times New Roman" panose="02020603050405020304" pitchFamily="18" charset="0"/>
                <a:cs typeface="Times New Roman" panose="02020603050405020304" pitchFamily="18" charset="0"/>
              </a:rPr>
              <a:t>32.5% </a:t>
            </a:r>
            <a:r>
              <a:rPr lang="en-US" dirty="0" smtClean="0">
                <a:latin typeface="Times New Roman" panose="02020603050405020304" pitchFamily="18" charset="0"/>
                <a:cs typeface="Times New Roman" panose="02020603050405020304" pitchFamily="18" charset="0"/>
              </a:rPr>
              <a:t>of transactions.</a:t>
            </a:r>
          </a:p>
          <a:p>
            <a:pPr>
              <a:buFont typeface="Wingdings" panose="05000000000000000000" pitchFamily="2" charset="2"/>
              <a:buChar char="v"/>
            </a:pPr>
            <a:r>
              <a:rPr lang="en-US" dirty="0" smtClean="0">
                <a:latin typeface="Times New Roman" panose="02020603050405020304" pitchFamily="18" charset="0"/>
                <a:cs typeface="Times New Roman" panose="02020603050405020304" pitchFamily="18" charset="0"/>
              </a:rPr>
              <a:t>Customer is preferring card payment over cash.</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Cards are chosen due to </a:t>
            </a:r>
            <a:r>
              <a:rPr lang="en-US" b="1" dirty="0">
                <a:latin typeface="Times New Roman" panose="02020603050405020304" pitchFamily="18" charset="0"/>
                <a:cs typeface="Times New Roman" panose="02020603050405020304" pitchFamily="18" charset="0"/>
              </a:rPr>
              <a:t>convenience and security</a:t>
            </a:r>
            <a:r>
              <a:rPr lang="en-US"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Incentives may also influence card usage.</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8651" y="-135348"/>
            <a:ext cx="2512423" cy="2512423"/>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5637" y="2377075"/>
            <a:ext cx="3977426" cy="3674416"/>
          </a:xfrm>
          <a:prstGeom prst="rect">
            <a:avLst/>
          </a:prstGeom>
        </p:spPr>
      </p:pic>
    </p:spTree>
    <p:extLst>
      <p:ext uri="{BB962C8B-B14F-4D97-AF65-F5344CB8AC3E}">
        <p14:creationId xmlns:p14="http://schemas.microsoft.com/office/powerpoint/2010/main" val="344333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1234" y="479469"/>
            <a:ext cx="8911687" cy="709251"/>
          </a:xfrm>
        </p:spPr>
        <p:txBody>
          <a:bodyPr>
            <a:noAutofit/>
          </a:bodyPr>
          <a:lstStyle/>
          <a:p>
            <a:r>
              <a:rPr lang="en-US" sz="4400" dirty="0">
                <a:latin typeface="Times New Roman" panose="02020603050405020304" pitchFamily="18" charset="0"/>
                <a:cs typeface="Times New Roman" panose="02020603050405020304" pitchFamily="18" charset="0"/>
              </a:rPr>
              <a:t>Passenger Count Analysis</a:t>
            </a:r>
            <a:endParaRPr lang="en-IN"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66652" y="1323344"/>
            <a:ext cx="10786155" cy="2804160"/>
          </a:xfrm>
        </p:spPr>
        <p:txBody>
          <a:bodyPr/>
          <a:lstStyle/>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Single passengers dominate:</a:t>
            </a:r>
            <a:r>
              <a:rPr lang="en-US" dirty="0">
                <a:latin typeface="Times New Roman" panose="02020603050405020304" pitchFamily="18" charset="0"/>
                <a:cs typeface="Times New Roman" panose="02020603050405020304" pitchFamily="18" charset="0"/>
              </a:rPr>
              <a:t> Rides with a single passenger comprise the largest proportion for both card (40.08%) and cash (20.04%) payments.</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Larger groups less frequent:</a:t>
            </a:r>
            <a:r>
              <a:rPr lang="en-US" dirty="0">
                <a:latin typeface="Times New Roman" panose="02020603050405020304" pitchFamily="18" charset="0"/>
                <a:cs typeface="Times New Roman" panose="02020603050405020304" pitchFamily="18" charset="0"/>
              </a:rPr>
              <a:t> The percentage of transactions noticeably decreases as the passenger count increases.</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Behavior insights:</a:t>
            </a:r>
            <a:r>
              <a:rPr lang="en-US" dirty="0">
                <a:latin typeface="Times New Roman" panose="02020603050405020304" pitchFamily="18" charset="0"/>
                <a:cs typeface="Times New Roman" panose="02020603050405020304" pitchFamily="18" charset="0"/>
              </a:rPr>
              <a:t> This trend suggests larger groups may opt for alternative transport or payment methods.</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Key takeaway:</a:t>
            </a:r>
            <a:r>
              <a:rPr lang="en-US" dirty="0">
                <a:latin typeface="Times New Roman" panose="02020603050405020304" pitchFamily="18" charset="0"/>
                <a:cs typeface="Times New Roman" panose="02020603050405020304" pitchFamily="18" charset="0"/>
              </a:rPr>
              <a:t> Considering both payment method and passenger count offers valuable insights into customer behavior and preferences.</a:t>
            </a:r>
          </a:p>
          <a:p>
            <a:pPr>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1234" y="4127504"/>
            <a:ext cx="9170126" cy="2547894"/>
          </a:xfrm>
          <a:prstGeom prst="rect">
            <a:avLst/>
          </a:prstGeom>
        </p:spPr>
      </p:pic>
    </p:spTree>
    <p:extLst>
      <p:ext uri="{BB962C8B-B14F-4D97-AF65-F5344CB8AC3E}">
        <p14:creationId xmlns:p14="http://schemas.microsoft.com/office/powerpoint/2010/main" val="39537564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9965" y="715550"/>
            <a:ext cx="8911687" cy="695239"/>
          </a:xfrm>
        </p:spPr>
        <p:txBody>
          <a:bodyPr>
            <a:noAutofit/>
          </a:bodyPr>
          <a:lstStyle/>
          <a:p>
            <a:r>
              <a:rPr lang="en-US" sz="4400" dirty="0" smtClean="0">
                <a:latin typeface="Times New Roman" panose="02020603050405020304" pitchFamily="18" charset="0"/>
                <a:cs typeface="Times New Roman" panose="02020603050405020304" pitchFamily="18" charset="0"/>
              </a:rPr>
              <a:t>Hypothesis Testing</a:t>
            </a:r>
            <a:endParaRPr lang="en-IN"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74468" y="1839686"/>
            <a:ext cx="8911687" cy="4319731"/>
          </a:xfrm>
        </p:spPr>
        <p:txBody>
          <a:bodyPr/>
          <a:lstStyle/>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Null hypothesis:</a:t>
            </a:r>
            <a:r>
              <a:rPr lang="en-US" dirty="0">
                <a:latin typeface="Times New Roman" panose="02020603050405020304" pitchFamily="18" charset="0"/>
                <a:cs typeface="Times New Roman" panose="02020603050405020304" pitchFamily="18" charset="0"/>
              </a:rPr>
              <a:t> No difference in average fare between credit card and cash users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Alternative hypothesis:</a:t>
            </a:r>
            <a:r>
              <a:rPr lang="en-US" dirty="0">
                <a:latin typeface="Times New Roman" panose="02020603050405020304" pitchFamily="18" charset="0"/>
                <a:cs typeface="Times New Roman" panose="02020603050405020304" pitchFamily="18" charset="0"/>
              </a:rPr>
              <a:t> There is a difference in average fare between the two groups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Result:</a:t>
            </a:r>
            <a:r>
              <a:rPr lang="en-US" dirty="0">
                <a:latin typeface="Times New Roman" panose="02020603050405020304" pitchFamily="18" charset="0"/>
                <a:cs typeface="Times New Roman" panose="02020603050405020304" pitchFamily="18" charset="0"/>
              </a:rPr>
              <a:t> T-statistic = 165.5, P-value &lt; 0.05</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Conclusion:</a:t>
            </a:r>
            <a:r>
              <a:rPr lang="en-US" dirty="0">
                <a:latin typeface="Times New Roman" panose="02020603050405020304" pitchFamily="18" charset="0"/>
                <a:cs typeface="Times New Roman" panose="02020603050405020304" pitchFamily="18" charset="0"/>
              </a:rPr>
              <a:t> Reject the null hypothesis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b="1" dirty="0">
                <a:latin typeface="Times New Roman" panose="02020603050405020304" pitchFamily="18" charset="0"/>
                <a:cs typeface="Times New Roman" panose="02020603050405020304" pitchFamily="18" charset="0"/>
              </a:rPr>
              <a:t>Insight:</a:t>
            </a:r>
            <a:r>
              <a:rPr lang="en-US" dirty="0">
                <a:latin typeface="Times New Roman" panose="02020603050405020304" pitchFamily="18" charset="0"/>
                <a:cs typeface="Times New Roman" panose="02020603050405020304" pitchFamily="18" charset="0"/>
              </a:rPr>
              <a:t> Payment method significantly affects average fare.</a:t>
            </a:r>
          </a:p>
          <a:p>
            <a:pPr>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047214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6719" y="480419"/>
            <a:ext cx="8911687" cy="1280890"/>
          </a:xfrm>
        </p:spPr>
        <p:txBody>
          <a:bodyPr>
            <a:normAutofit/>
          </a:bodyPr>
          <a:lstStyle/>
          <a:p>
            <a:r>
              <a:rPr lang="en-US" sz="4400" dirty="0" smtClean="0">
                <a:latin typeface="Times New Roman" panose="02020603050405020304" pitchFamily="18" charset="0"/>
                <a:cs typeface="Times New Roman" panose="02020603050405020304" pitchFamily="18" charset="0"/>
              </a:rPr>
              <a:t>Recommendations</a:t>
            </a:r>
            <a:endParaRPr lang="en-IN"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49577" y="1120864"/>
            <a:ext cx="8915400" cy="3777622"/>
          </a:xfrm>
        </p:spPr>
        <p:txBody>
          <a:bodyPr/>
          <a:lstStyle/>
          <a:p>
            <a:pPr marL="0" indent="0">
              <a:buNone/>
            </a:pP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Encourage customers to use credit cards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Promote higher revenue through card payments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Offer discounts or incentives for card usage</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Motivate customers to choose credit cards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Provide secure and seamless payment options</a:t>
            </a:r>
            <a:r>
              <a:rPr lang="en-US" dirty="0" smtClean="0">
                <a:latin typeface="Times New Roman" panose="02020603050405020304" pitchFamily="18" charset="0"/>
                <a:cs typeface="Times New Roman" panose="02020603050405020304" pitchFamily="18" charset="0"/>
              </a:rPr>
              <a:t>.</a:t>
            </a:r>
          </a:p>
          <a:p>
            <a:pPr>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Improve convenience to increase adoption.</a:t>
            </a:r>
          </a:p>
        </p:txBody>
      </p:sp>
    </p:spTree>
    <p:extLst>
      <p:ext uri="{BB962C8B-B14F-4D97-AF65-F5344CB8AC3E}">
        <p14:creationId xmlns:p14="http://schemas.microsoft.com/office/powerpoint/2010/main" val="42259949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82932" y="999309"/>
            <a:ext cx="8915399" cy="2262781"/>
          </a:xfrm>
        </p:spPr>
        <p:txBody>
          <a:bodyPr>
            <a:normAutofit/>
          </a:bodyPr>
          <a:lstStyle/>
          <a:p>
            <a:pPr algn="ctr"/>
            <a:r>
              <a:rPr lang="en-US" sz="6000" dirty="0" smtClean="0">
                <a:solidFill>
                  <a:schemeClr val="accent2">
                    <a:lumMod val="50000"/>
                  </a:schemeClr>
                </a:solidFill>
                <a:latin typeface="Times New Roman" panose="02020603050405020304" pitchFamily="18" charset="0"/>
                <a:cs typeface="Times New Roman" panose="02020603050405020304" pitchFamily="18" charset="0"/>
              </a:rPr>
              <a:t>Thank You</a:t>
            </a:r>
            <a:endParaRPr lang="en-IN" sz="6000" dirty="0">
              <a:solidFill>
                <a:schemeClr val="accent2">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31350605"/>
      </p:ext>
    </p:extLst>
  </p:cSld>
  <p:clrMapOvr>
    <a:masterClrMapping/>
  </p:clrMapOvr>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1928</TotalTime>
  <Words>624</Words>
  <Application>Microsoft Office PowerPoint</Application>
  <PresentationFormat>Widescreen</PresentationFormat>
  <Paragraphs>103</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Century Gothic</vt:lpstr>
      <vt:lpstr>Times New Roman</vt:lpstr>
      <vt:lpstr>Wingdings</vt:lpstr>
      <vt:lpstr>Wingdings 3</vt:lpstr>
      <vt:lpstr>Wisp</vt:lpstr>
      <vt:lpstr>NYC Yellow Taxi Trip Analysis</vt:lpstr>
      <vt:lpstr>PowerPoint Presentation</vt:lpstr>
      <vt:lpstr>Problem Statement</vt:lpstr>
      <vt:lpstr> Objective</vt:lpstr>
      <vt:lpstr>Research Question</vt:lpstr>
      <vt:lpstr>Data Overview</vt:lpstr>
      <vt:lpstr>Methodology</vt:lpstr>
      <vt:lpstr>Findings</vt:lpstr>
      <vt:lpstr>PowerPoint Presentation</vt:lpstr>
      <vt:lpstr>Preference of Payment Types</vt:lpstr>
      <vt:lpstr>Passenger Count Analysis</vt:lpstr>
      <vt:lpstr>Hypothesis Testing</vt:lpstr>
      <vt:lpstr>Recommendations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Yellow Trip Data</dc:title>
  <dc:creator>LENOVO</dc:creator>
  <cp:lastModifiedBy>LENOVO</cp:lastModifiedBy>
  <cp:revision>51</cp:revision>
  <dcterms:created xsi:type="dcterms:W3CDTF">2026-03-18T09:20:22Z</dcterms:created>
  <dcterms:modified xsi:type="dcterms:W3CDTF">2026-03-22T09:23:21Z</dcterms:modified>
</cp:coreProperties>
</file>